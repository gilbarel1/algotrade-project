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4B7F9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313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B7F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EC3C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B7F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B7F9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DictaBERT — HE</c:v>
                  </c:pt>
                  <c:pt idx="1">
                    <c:v>Transformers avg</c:v>
                  </c:pt>
                  <c:pt idx="2">
                    <c:v>FinBERT — EN</c:v>
                  </c:pt>
                  <c:pt idx="3">
                    <c:v>LLM (haiku)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</c:v>
                </c:pt>
                <c:pt idx="1">
                  <c:v>0.77</c:v>
                </c:pt>
                <c:pt idx="2">
                  <c:v>0.8</c:v>
                </c:pt>
                <c:pt idx="3">
                  <c:v>0.9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4313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313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Stocker is a virtual investment team. Four AI agents analyze a stock independently, and a risk manager synthesizes them into a long, short, hold or avoid call with a written justification. The watchlist mixes Tel Aviv and US names. It analyzes; it does not trade.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pitch in one line: the value is not that it answers, it's that it refuses to answer beyond its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n8n orchestrates and makes every LLM call. A local FastAPI service does everything needing a real library. No ML runs inside n8n.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land. It reframes five techniques as one design principle — which is what makes it a considered system rather than a bag of tricks.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Hebrew at 0.70 required replacing the model: HeBERT scored 0.30 by answering neutral for 10 of 10 items. Two rescue attempts failed and are recorded.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only get one extra sentence in the defense, use this slide. It proves the design choices were necessary rather than merely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evidence of engineering judgement in the project: found by inspection, fixed by removing an assumption rather than patching a symptom, and the open question is left open rather than guessed.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rush this slide. Owning the limits is what makes the rest of the numbers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backtest — naming your own biggest gap first is more convincing than being asked about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talking on a full stop. Do not trail off into hedging.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9844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STOCKER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66928" y="213969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EC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investment team that argues with itself before it advises you.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70048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— Financial Automation: a Multi-Agent n8n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9788" y="3712464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1B3D51"/>
          </a:solidFill>
          <a:ln w="12700">
            <a:solidFill>
              <a:srgbClr val="1B3D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9788" y="384048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89788" y="4517136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C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agents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C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run in parallel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20924" y="3712464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1B3D51"/>
          </a:solidFill>
          <a:ln w="12700">
            <a:solidFill>
              <a:srgbClr val="1B3D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20924" y="384048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820924" y="4517136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C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Manager passes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C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critique → final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52060" y="3712464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1B3D51"/>
          </a:solidFill>
          <a:ln w="12700">
            <a:solidFill>
              <a:srgbClr val="1B3D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52060" y="384048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159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052060" y="4517136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C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nodes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C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workflows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283196" y="3712464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1B3D51"/>
          </a:solidFill>
          <a:ln w="12700">
            <a:solidFill>
              <a:srgbClr val="1B3D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83196" y="384048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283196" y="4517136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C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tests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C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in CI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514332" y="3712464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1B3D51"/>
          </a:solidFill>
          <a:ln w="12700">
            <a:solidFill>
              <a:srgbClr val="1B3D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14332" y="384048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$0.07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514332" y="4517136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C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two-ticker run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C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per agent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580644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 Naus  ·  Gil Barel  ·  Yuval Genislav  ·  Dolev David      |      github.com/gilbarel1/algotrade-project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4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unlike sources, and no trustworthy way to combine them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441192" cy="2212848"/>
          </a:xfrm>
          <a:prstGeom prst="roundRect">
            <a:avLst>
              <a:gd name="adj" fmla="val 3719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00784"/>
            <a:ext cx="384048" cy="384048"/>
          </a:xfrm>
          <a:prstGeom prst="ellipse">
            <a:avLst/>
          </a:prstGeom>
          <a:solidFill>
            <a:srgbClr val="4B7F96"/>
          </a:solidFill>
          <a:ln w="12700">
            <a:solidFill>
              <a:srgbClr val="4B7F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212848"/>
            <a:ext cx="289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it does not scale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615184"/>
            <a:ext cx="2892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action, news flow and exchange disclosures must be synthesized per ticker. Across a watchlist that is slow and inconsistent.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3880" y="1481328"/>
            <a:ext cx="3441192" cy="2212848"/>
          </a:xfrm>
          <a:prstGeom prst="roundRect">
            <a:avLst>
              <a:gd name="adj" fmla="val 3719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8200" y="1700784"/>
            <a:ext cx="384048" cy="384048"/>
          </a:xfrm>
          <a:prstGeom prst="ellipse">
            <a:avLst/>
          </a:prstGeom>
          <a:solidFill>
            <a:srgbClr val="4B7F96"/>
          </a:solidFill>
          <a:ln w="12700">
            <a:solidFill>
              <a:srgbClr val="4B7F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8200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48200" y="2212848"/>
            <a:ext cx="289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 is worse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8200" y="2615184"/>
            <a:ext cx="2892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Single-shot pipelines invent financial figures, hide their uncertainty, and overcommit on thin evidence.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0832" y="1481328"/>
            <a:ext cx="3441192" cy="2212848"/>
          </a:xfrm>
          <a:prstGeom prst="roundRect">
            <a:avLst>
              <a:gd name="adj" fmla="val 3719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5152" y="1700784"/>
            <a:ext cx="384048" cy="384048"/>
          </a:xfrm>
          <a:prstGeom prst="ellipse">
            <a:avLst/>
          </a:prstGeom>
          <a:solidFill>
            <a:srgbClr val="4B7F96"/>
          </a:solidFill>
          <a:ln w="12700">
            <a:solidFill>
              <a:srgbClr val="4B7F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5152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55152" y="2212848"/>
            <a:ext cx="289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 Aviv adds friction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5152" y="2615184"/>
            <a:ext cx="2892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splits Hebrew/English, and TASE disclosures sit on a bot-protected SPA with figures two layers down in PDF attachments.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968496"/>
            <a:ext cx="11055096" cy="1572768"/>
          </a:xfrm>
          <a:prstGeom prst="roundRect">
            <a:avLst>
              <a:gd name="adj" fmla="val 5233"/>
            </a:avLst>
          </a:prstGeom>
          <a:solidFill>
            <a:srgbClr val="14313F"/>
          </a:solidFill>
          <a:ln w="12700">
            <a:solidFill>
              <a:srgbClr val="1431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41696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4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solve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0976" y="448056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mixed TA-35 + S&amp;P 500 watchlist in, a justified long / short / hold / avoid per ticker out — with a conviction level, the full reasoning trace, and citations to every source.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0976" y="4956048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guarantees hold throughout:  no financial figure is ever fabricated  ·  no uncertainty is ever hidden.  A failed source lowers conviction; it never becomes a signal.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4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agents, one orchestrator, one shared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353812" cy="1773936"/>
          </a:xfrm>
          <a:prstGeom prst="roundRect">
            <a:avLst>
              <a:gd name="adj" fmla="val 4639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664208"/>
            <a:ext cx="27020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195828" y="170078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7F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claude-haiku-4.5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59536" y="2066544"/>
            <a:ext cx="47685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scoring. An LLM and a fine-tuned transformer (FinBERT / DictaBERT) score every article independently — their disagreement is itself a reported signal.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8212" y="1463040"/>
            <a:ext cx="5353812" cy="1773936"/>
          </a:xfrm>
          <a:prstGeom prst="roundRect">
            <a:avLst>
              <a:gd name="adj" fmla="val 4639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0820" y="1664208"/>
            <a:ext cx="27020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897112" y="170078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7F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grok-4.3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60820" y="2066544"/>
            <a:ext cx="47685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Self-consistency. Each figure sampled 3× at temp 0.3, committed only on a majority of verbatim matches. Anything else prints as ambiguous.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511296"/>
            <a:ext cx="5353812" cy="1773936"/>
          </a:xfrm>
          <a:prstGeom prst="roundRect">
            <a:avLst>
              <a:gd name="adj" fmla="val 4639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3712464"/>
            <a:ext cx="27020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195828" y="374904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7F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gemini-2.5-flash-lite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9536" y="4114800"/>
            <a:ext cx="47685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Narrates RSI / MACD / Bollinger / ATR computed server-side. No number in the report originates inside a language model.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8212" y="3511296"/>
            <a:ext cx="5353812" cy="1773936"/>
          </a:xfrm>
          <a:prstGeom prst="roundRect">
            <a:avLst>
              <a:gd name="adj" fmla="val 4639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0820" y="3712464"/>
            <a:ext cx="27020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897112" y="374904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7F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claude-haiku-4.5  ×3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60820" y="4114800"/>
            <a:ext cx="47685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devil's-advocate critique → final, then a deterministic rubric clamp so a model that breaks the decision rules cannot reach the report.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5504688"/>
            <a:ext cx="11055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entry points — manual, hourly per-market schedule, and a chat assistant — share one pipeline. No duplicated code path.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3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7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Uncertainty is derived from disagreement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10872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EC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cannot be trusted to report its own confidence — HeBERT stated 0.998 while being wrong. So we never ask “how sure are you?”. Confidence is earned by surviving an independent challenge, at three scales: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212848"/>
            <a:ext cx="11055096" cy="896112"/>
          </a:xfrm>
          <a:prstGeom prst="roundRect">
            <a:avLst>
              <a:gd name="adj" fmla="val 9184"/>
            </a:avLst>
          </a:prstGeom>
          <a:solidFill>
            <a:srgbClr val="1B3D51"/>
          </a:solidFill>
          <a:ln w="12700">
            <a:solidFill>
              <a:srgbClr val="1B3D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267712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one 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67328" y="2267712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C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samples of one extraction prompt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90688" y="2267712"/>
            <a:ext cx="3520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figure that loses the vote →  ambiguous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273552"/>
            <a:ext cx="11055096" cy="896112"/>
          </a:xfrm>
          <a:prstGeom prst="roundRect">
            <a:avLst>
              <a:gd name="adj" fmla="val 9184"/>
            </a:avLst>
          </a:prstGeom>
          <a:solidFill>
            <a:srgbClr val="1B3D51"/>
          </a:solidFill>
          <a:ln w="12700">
            <a:solidFill>
              <a:srgbClr val="1B3D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3328416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two models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67328" y="3328416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C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vs. a fine-tuned transformer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90688" y="3328416"/>
            <a:ext cx="3520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split above 0.3 →  conviction capped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4334256"/>
            <a:ext cx="11055096" cy="896112"/>
          </a:xfrm>
          <a:prstGeom prst="roundRect">
            <a:avLst>
              <a:gd name="adj" fmla="val 9184"/>
            </a:avLst>
          </a:prstGeom>
          <a:solidFill>
            <a:srgbClr val="1B3D51"/>
          </a:solidFill>
          <a:ln w="12700">
            <a:solidFill>
              <a:srgbClr val="1B3D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4389120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two passes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67328" y="4389120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C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draft vs. a devil's advocate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90688" y="4389120"/>
            <a:ext cx="3520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objections that survive →  call downgraded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66928" y="5541264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disagree, models disagree, passes disagree — each one is a different scale of the same mechanism.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4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against hand-labelled fixtures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444752"/>
          <a:ext cx="5943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46817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accuracy — 30 items (20 EN / 10 HE)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922008" y="1444752"/>
            <a:ext cx="4700016" cy="932688"/>
          </a:xfrm>
          <a:prstGeom prst="roundRect">
            <a:avLst>
              <a:gd name="adj" fmla="val 8824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96328" y="1517904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7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979408" y="1517904"/>
            <a:ext cx="2368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classifier — macro-F1 on kind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922008" y="2542032"/>
            <a:ext cx="4700016" cy="932688"/>
          </a:xfrm>
          <a:prstGeom prst="roundRect">
            <a:avLst>
              <a:gd name="adj" fmla="val 8824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96328" y="2615184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7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/ 22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979408" y="2615184"/>
            <a:ext cx="2368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figures correctly marked ambiguous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922008" y="3639312"/>
            <a:ext cx="4700016" cy="932688"/>
          </a:xfrm>
          <a:prstGeom prst="roundRect">
            <a:avLst>
              <a:gd name="adj" fmla="val 8824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96328" y="3712464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7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4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979408" y="3712464"/>
            <a:ext cx="2368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router refusals — no fabrication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922008" y="4736592"/>
            <a:ext cx="4700016" cy="786384"/>
          </a:xfrm>
          <a:prstGeom prst="roundRect">
            <a:avLst>
              <a:gd name="adj" fmla="val 10465"/>
            </a:avLst>
          </a:prstGeom>
          <a:solidFill>
            <a:srgbClr val="14313F"/>
          </a:solidFill>
          <a:ln w="12700">
            <a:solidFill>
              <a:srgbClr val="14313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96328" y="4809744"/>
            <a:ext cx="4151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numbers reproduce — re-run 11 days later, every metric identical.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4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TECHNIQUES EARN THEIR COST?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turned each one off and re-scored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technique costs real tokens. “We used self-consistency” is a claim about effort, not effect — so a second harness ablates each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3465576" cy="3218688"/>
          </a:xfrm>
          <a:prstGeom prst="roundRect">
            <a:avLst>
              <a:gd name="adj" fmla="val 2557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011680"/>
            <a:ext cx="2916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41248" y="2359152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7F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3 vote  →  n =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2743200"/>
            <a:ext cx="2916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7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41248" y="3456432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figures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3803904"/>
            <a:ext cx="29169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three samples each invented a figure — the vote caught both because they disagreed.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61688" y="1810512"/>
            <a:ext cx="3465576" cy="3218688"/>
          </a:xfrm>
          <a:prstGeom prst="roundRect">
            <a:avLst>
              <a:gd name="adj" fmla="val 2557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2011680"/>
            <a:ext cx="2916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636008" y="2359152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7F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examples  →  none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36008" y="2743200"/>
            <a:ext cx="2916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7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 → 0.77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36008" y="3456432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accuracy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36008" y="3803904"/>
            <a:ext cx="29169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 is exactly what the free local transformer scores. Without them, the paid model is not worth paying for.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56448" y="1810512"/>
            <a:ext cx="3465576" cy="3218688"/>
          </a:xfrm>
          <a:prstGeom prst="roundRect">
            <a:avLst>
              <a:gd name="adj" fmla="val 2557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0768" y="2011680"/>
            <a:ext cx="2916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critique loop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30768" y="2359152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7F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 →  draft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430768" y="2743200"/>
            <a:ext cx="2916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7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0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430768" y="3456432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downgrades / upgrades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30768" y="3803904"/>
            <a:ext cx="29169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26 recommendations it changed 8 calls, every one long → hold. It has never made the system more confident.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5175504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limit:  small samples, and “changed the call” is not “improved the call” — there is still no backtest.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4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BY LOOKING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silent data-integrity bug — and what it taught us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99616"/>
            <a:ext cx="5870448" cy="2139696"/>
          </a:xfrm>
          <a:prstGeom prst="roundRect">
            <a:avLst>
              <a:gd name="adj" fmla="val 3846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700784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error. No degraded status. No failing test.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9536" y="2084832"/>
            <a:ext cx="52852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/ohlc output, every Sunday bar was an exact copy of the previous Thursday's.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TASE trades Sun–Thu, so cleaning reindexed onto that week. But Yahoo returns .TA bars Mon–Fri, with no Sunday at all — so it discarded every real Friday and forward-filled a synthetic Sunday.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766560" y="1499616"/>
            <a:ext cx="2281428" cy="2139696"/>
          </a:xfrm>
          <a:prstGeom prst="roundRect">
            <a:avLst>
              <a:gd name="adj" fmla="val 3846"/>
            </a:avLst>
          </a:prstGeom>
          <a:solidFill>
            <a:srgbClr val="14313F"/>
          </a:solidFill>
          <a:ln w="12700">
            <a:solidFill>
              <a:srgbClr val="1431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2002536"/>
            <a:ext cx="22814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77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766560" y="2679192"/>
            <a:ext cx="22814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C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TASE series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C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fabricated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340596" y="1499616"/>
            <a:ext cx="2281428" cy="2139696"/>
          </a:xfrm>
          <a:prstGeom prst="roundRect">
            <a:avLst>
              <a:gd name="adj" fmla="val 3846"/>
            </a:avLst>
          </a:prstGeom>
          <a:solidFill>
            <a:srgbClr val="14313F"/>
          </a:solidFill>
          <a:ln w="12700">
            <a:solidFill>
              <a:srgbClr val="1431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40596" y="2002536"/>
            <a:ext cx="22814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77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9340596" y="2679192"/>
            <a:ext cx="22814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C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trading sessions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C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discarded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712464"/>
            <a:ext cx="384048" cy="384048"/>
          </a:xfrm>
          <a:prstGeom prst="ellipse">
            <a:avLst/>
          </a:prstGeom>
          <a:solidFill>
            <a:srgbClr val="C77D3A"/>
          </a:solidFill>
          <a:ln w="12700">
            <a:solidFill>
              <a:srgbClr val="C77D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694176"/>
            <a:ext cx="10524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hold where they are enforced, not where they are stated.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97280" y="4023360"/>
            <a:ext cx="10524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built to refuse inventing an earnings figure was inventing a fifth of its price history — the earnings path had a mechanism, the data path had only an assumption.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681728"/>
            <a:ext cx="384048" cy="384048"/>
          </a:xfrm>
          <a:prstGeom prst="ellipse">
            <a:avLst/>
          </a:prstGeom>
          <a:solidFill>
            <a:srgbClr val="C77D3A"/>
          </a:solidFill>
          <a:ln w="12700">
            <a:solidFill>
              <a:srgbClr val="C77D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4663440"/>
            <a:ext cx="10524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 outlived its own repair.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097280" y="4992624"/>
            <a:ext cx="10524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Insert-or-replace can correct or add a row, never retract one — so stored phantoms kept feeding the endpoints until a re-ingest was made authoritative. Both are now pinned by tests.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570585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those Friday bars actually are is still unknown — so the code makes the narrower claim that holds either way: it invents nothing and discards nothing.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4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Stated up front, not discovered later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53812" cy="1792224"/>
          </a:xfrm>
          <a:prstGeom prst="roundRect">
            <a:avLst>
              <a:gd name="adj" fmla="val 4592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737360"/>
            <a:ext cx="47685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execution, no backtest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9536" y="2377440"/>
            <a:ext cx="47685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argues positions; it never checks whether they would have made money. This is the biggest gap and the obvious next step.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8212" y="1517904"/>
            <a:ext cx="5353812" cy="1792224"/>
          </a:xfrm>
          <a:prstGeom prst="roundRect">
            <a:avLst>
              <a:gd name="adj" fmla="val 4592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0820" y="1737360"/>
            <a:ext cx="47685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critique reduces overconfidence — it does not guarantee correctness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60820" y="2377440"/>
            <a:ext cx="47685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structured reasoning aid, not a financial-validity guarantee. The report's footer says so.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529584"/>
            <a:ext cx="5353812" cy="1792224"/>
          </a:xfrm>
          <a:prstGeom prst="roundRect">
            <a:avLst>
              <a:gd name="adj" fmla="val 4592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3749040"/>
            <a:ext cx="47685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 reduces invented figures; it does not eliminate them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9536" y="4389120"/>
            <a:ext cx="47685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across four runs: 22/22, 21/22, 22/22, 22/22. The mechanism makes the residue measurable, not zero.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8212" y="3529584"/>
            <a:ext cx="5353812" cy="1792224"/>
          </a:xfrm>
          <a:prstGeom prst="roundRect">
            <a:avLst>
              <a:gd name="adj" fmla="val 4592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0820" y="3749040"/>
            <a:ext cx="47685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uneven and scraping is best-effort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60820" y="4389120"/>
            <a:ext cx="47685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TA-35 mid-cap news, a general-purpose Hebrew model, and a bot-protected source that can break — each degrades to ambiguous rather than to a guess.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6928" y="5632704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degrades to ambiguous or degraded — never to a fabricated number. That was the design goal.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4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build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84048" cy="384048"/>
          </a:xfrm>
          <a:prstGeom prst="ellipse">
            <a:avLst/>
          </a:prstGeom>
          <a:solidFill>
            <a:srgbClr val="4B7F96"/>
          </a:solidFill>
          <a:ln w="12700">
            <a:solidFill>
              <a:srgbClr val="4B7F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5361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the recommendation stream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321808" y="1499616"/>
            <a:ext cx="63002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realized returns — turning rationale quality into measured alpha, net of costs. The one thing that would make “changed the call” mean “improved the call”.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670048"/>
            <a:ext cx="384048" cy="384048"/>
          </a:xfrm>
          <a:prstGeom prst="ellipse">
            <a:avLst/>
          </a:prstGeom>
          <a:solidFill>
            <a:srgbClr val="4B7F96"/>
          </a:solidFill>
          <a:ln w="12700">
            <a:solidFill>
              <a:srgbClr val="4B7F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6334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watchlist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321808" y="2596896"/>
            <a:ext cx="63002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full TA-35 and S&amp;P 500. The per-market architecture supports it today; a paid news tier is the binding constraint.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767328"/>
            <a:ext cx="384048" cy="384048"/>
          </a:xfrm>
          <a:prstGeom prst="ellipse">
            <a:avLst/>
          </a:prstGeom>
          <a:solidFill>
            <a:srgbClr val="4B7F96"/>
          </a:solidFill>
          <a:ln w="12700">
            <a:solidFill>
              <a:srgbClr val="4B7F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7307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 the TASE calendar question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321808" y="3694176"/>
            <a:ext cx="63002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Yahoo's .TA bars against the exchange's own session data or a second vendor — a gap in provenance, not a design choice.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864608"/>
            <a:ext cx="384048" cy="384048"/>
          </a:xfrm>
          <a:prstGeom prst="ellipse">
            <a:avLst/>
          </a:prstGeom>
          <a:solidFill>
            <a:srgbClr val="4B7F96"/>
          </a:solidFill>
          <a:ln w="12700">
            <a:solidFill>
              <a:srgbClr val="4B7F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8280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and extraction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321808" y="4791456"/>
            <a:ext cx="63002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and Telegram are one n8n node each; OCR would rescue scanned disclosure PDFs that are currently an honest ambiguous.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3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43584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remember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66928" y="2286000"/>
            <a:ext cx="384048" cy="384048"/>
          </a:xfrm>
          <a:prstGeom prst="ellipse">
            <a:avLst/>
          </a:prstGeom>
          <a:solidFill>
            <a:srgbClr val="4B7F96"/>
          </a:solidFill>
          <a:ln w="12700">
            <a:solidFill>
              <a:srgbClr val="4B7F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226771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refuses before it guesses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144768" y="2267712"/>
            <a:ext cx="5477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AEC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figure is committed unless repeated samples agree it appears verbatim in the source.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3310128"/>
            <a:ext cx="384048" cy="384048"/>
          </a:xfrm>
          <a:prstGeom prst="ellipse">
            <a:avLst/>
          </a:prstGeom>
          <a:solidFill>
            <a:srgbClr val="4B7F96"/>
          </a:solidFill>
          <a:ln w="12700">
            <a:solidFill>
              <a:srgbClr val="4B7F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29184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argues with itself, and we measured that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144768" y="3291840"/>
            <a:ext cx="5477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AEC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run on record the critique has moved 8 calls — all toward caution, none away from it.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4334256"/>
            <a:ext cx="384048" cy="384048"/>
          </a:xfrm>
          <a:prstGeom prst="ellipse">
            <a:avLst/>
          </a:prstGeom>
          <a:solidFill>
            <a:srgbClr val="4B7F96"/>
          </a:solidFill>
          <a:ln w="12700">
            <a:solidFill>
              <a:srgbClr val="4B7F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431596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degrades honestly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144768" y="4315968"/>
            <a:ext cx="5477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AEC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 data source lowers conviction. It never becomes a signal.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66928" y="5650992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github.com/gilbarel1/algotrade-project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Stocker — an AI Investment Team on n8n</dc:title>
  <dc:subject>PptxGenJS Presentation</dc:subject>
  <dc:creator>Niv Naus · Gil Barel · Yuval Genislav · Dolev David</dc:creator>
  <cp:lastModifiedBy>Niv Naus · Gil Barel · Yuval Genislav · Dolev David</cp:lastModifiedBy>
  <cp:revision>1</cp:revision>
  <dcterms:created xsi:type="dcterms:W3CDTF">2026-08-18T08:28:09Z</dcterms:created>
  <dcterms:modified xsi:type="dcterms:W3CDTF">2026-08-18T08:28:09Z</dcterms:modified>
</cp:coreProperties>
</file>